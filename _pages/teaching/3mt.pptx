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4" r:id="rId4"/>
    <p:sldId id="265" r:id="rId5"/>
    <p:sldId id="266" r:id="rId6"/>
    <p:sldId id="260" r:id="rId7"/>
    <p:sldId id="267" r:id="rId8"/>
    <p:sldId id="269" r:id="rId9"/>
    <p:sldId id="268" r:id="rId10"/>
    <p:sldId id="261" r:id="rId11"/>
    <p:sldId id="262" r:id="rId12"/>
    <p:sldId id="263" r:id="rId13"/>
    <p:sldId id="258" r:id="rId14"/>
    <p:sldId id="25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89"/>
    <p:restoredTop sz="94681"/>
  </p:normalViewPr>
  <p:slideViewPr>
    <p:cSldViewPr snapToGrid="0">
      <p:cViewPr varScale="1">
        <p:scale>
          <a:sx n="71" d="100"/>
          <a:sy n="71" d="100"/>
        </p:scale>
        <p:origin x="184" y="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5383D-28A4-76FE-2E37-201C2E936F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0BC7B-C8A9-A517-22A1-0A4A22304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9F279-04BC-F49B-FC2B-B3DD7976F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73426-B92A-7141-AE09-C3AB319B5419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33B20-EEB3-C1A1-70CA-E4D706760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A08EF-063B-D9B7-4007-2C495ED90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6042B-80D3-C841-A17A-F6F4068B21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8510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98DA9-2AD5-14CE-8061-CE5D1F48E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D5521-A79B-FD97-7E26-BCC67A5D7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09047-9FDB-6854-711B-A2EED60FD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73426-B92A-7141-AE09-C3AB319B5419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EAD18-5087-8235-607A-DE0D52705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92024-D7D7-53C4-DBAF-288C81D4A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6042B-80D3-C841-A17A-F6F4068B21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4880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CD4DF-36E2-904D-ABA4-3F1771B07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FEDC4-D57B-1D3F-3AA8-EBFC98B2F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566D7-4093-81FC-05CE-5F8929BBD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73426-B92A-7141-AE09-C3AB319B5419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29309-E6CD-2A06-D711-6AB6F36D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A1545-30B0-D9C1-DB89-C27BA634F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6042B-80D3-C841-A17A-F6F4068B21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3163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86293-96B5-EEC3-EFB3-4BA15B8C9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993B1-491E-411C-B3BC-13341B078A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9CB78B-1CBE-5A87-4000-923DE2BF1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27555-382E-DEA2-746A-1706F0B32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73426-B92A-7141-AE09-C3AB319B5419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7B180-0C37-83EE-C662-5BAC943D5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D356B-EF7D-0CA7-3471-E02E4FE4E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6042B-80D3-C841-A17A-F6F4068B21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8353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C4C9B-2350-31E3-A8CF-4FA2E6CEF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892B4-8A2C-15D3-C635-56DFB0742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2F158-EB89-753D-8244-42BEBBE99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F339C9-3276-29BC-7FBE-1DAF92AD51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A2C92E-5802-9EDD-252A-3847204177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0AF918-1E29-DC0D-DA3C-3D37C3409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73426-B92A-7141-AE09-C3AB319B5419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6BD357-9C72-E276-4500-3F9986AF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8EC53-A5B3-26CB-0D4E-222A59D06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6042B-80D3-C841-A17A-F6F4068B21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4410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F854E-6356-9159-5F29-A7477159F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253D71-4A85-A108-2A1D-1ADB99F87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73426-B92A-7141-AE09-C3AB319B5419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B2954-06B9-75BC-6D9A-AD6151636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8D81A3-F7C6-7FD4-52BF-DEA668897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6042B-80D3-C841-A17A-F6F4068B21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0186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62B6C1-B5A7-465F-486D-28D8B109C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73426-B92A-7141-AE09-C3AB319B5419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9C03DC-92EF-69F8-E214-5CF61A0E2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2C0BC-70D4-26C4-EAE3-412661315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6042B-80D3-C841-A17A-F6F4068B21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5012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B4D0F-B99B-13F1-7C74-69B736AFB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CAFE0-F0B8-09EA-8B9E-E25C04363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F0858-9505-C0E3-068E-52E29E04F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51CB10-E245-E742-DA80-ABF040377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73426-B92A-7141-AE09-C3AB319B5419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15876-0EDF-07C3-30B5-DF92172EF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B01A3-B70F-A1F2-8DDF-92E781936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6042B-80D3-C841-A17A-F6F4068B21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3456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6F8EF-E0E6-C235-D4A5-F88D7D10F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D91C02-CC9C-5C71-C89D-FC10FD8515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359CF-5392-9B7F-B75E-2CD78C8B1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459E4-76F7-AB19-C7FA-1341FFEC6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73426-B92A-7141-AE09-C3AB319B5419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443A9-D483-4943-322A-8305B665D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3C477-35D1-8AFC-7CB7-AE406308E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6042B-80D3-C841-A17A-F6F4068B21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7244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780D-FB9E-1307-8B6D-1C57F368E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F1F121-0C25-2DB8-775C-C50A6CD2F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FA3B6-BF89-0E69-F79E-000D8409E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73426-B92A-7141-AE09-C3AB319B5419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0FFE2-2765-5613-C417-131D3C935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B9D03-B530-CFC8-5CAA-E5C3489C5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6042B-80D3-C841-A17A-F6F4068B21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0697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BC021B-DDA6-613A-5D01-3DDC4CC939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FF2BAD-C1DD-26A0-5E2A-6D86B615C2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17161-FDF3-DADD-2E1C-EF589B49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73426-B92A-7141-AE09-C3AB319B5419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37E75-E203-7602-7F01-2E97D7CEF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EFDF5-3828-B22E-90F7-206A3AA4C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6042B-80D3-C841-A17A-F6F4068B21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7986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355AA2-601F-D10F-414A-FCBF737CB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C356C-56BA-A7CE-24E4-1ECA2A453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96E91-95D1-56AF-3AB7-0EA9D981D0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73426-B92A-7141-AE09-C3AB319B5419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E4AFC-FBBF-644E-E7DA-2D868AFA2D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991AC-0852-000D-7C98-3BAE962CFA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B6042B-80D3-C841-A17A-F6F4068B21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1209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newsletter.admin.ox.ac.uk/c/18iewFasGTdTWHABs2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institute-academic-development.ed.ac.uk/postgraduate/doctoral/3mt/entrants/tips" TargetMode="External"/><Relationship Id="rId2" Type="http://schemas.openxmlformats.org/officeDocument/2006/relationships/hyperlink" Target="https://www.mpls.ox.ac.uk/public-engagement/three-minute-thesi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s.ox.ac.uk/files/2263/PresentationSkillsSeminar.pdf" TargetMode="External"/><Relationship Id="rId4" Type="http://schemas.openxmlformats.org/officeDocument/2006/relationships/hyperlink" Target="https://www.sussex.ac.uk/internal/sussex-researcher-school/researcherdev/researchercommunity/threeminthesis/preparing3m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19F5B-9012-A701-567E-F2E2615A02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sz="5400" dirty="0"/>
              <a:t>How to give a 3 minute talk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5E48D80-5C21-39EC-2DF9-AFFA1207401C}"/>
              </a:ext>
            </a:extLst>
          </p:cNvPr>
          <p:cNvSpPr txBox="1">
            <a:spLocks/>
          </p:cNvSpPr>
          <p:nvPr/>
        </p:nvSpPr>
        <p:spPr>
          <a:xfrm>
            <a:off x="838200" y="3789361"/>
            <a:ext cx="10515600" cy="2387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With Lucy</a:t>
            </a:r>
          </a:p>
        </p:txBody>
      </p:sp>
    </p:spTree>
    <p:extLst>
      <p:ext uri="{BB962C8B-B14F-4D97-AF65-F5344CB8AC3E}">
        <p14:creationId xmlns:p14="http://schemas.microsoft.com/office/powerpoint/2010/main" val="3730315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E8DD6-402E-8A88-3EFA-90E617BBD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B5571-3B66-15FF-CF22-DB9268E12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We all have to give oral presentations! </a:t>
            </a:r>
          </a:p>
          <a:p>
            <a:pPr lvl="1"/>
            <a:r>
              <a:rPr lang="en-AU" dirty="0"/>
              <a:t>Internally, externally, at conferences, industry meetings, family Christmas, …</a:t>
            </a:r>
          </a:p>
          <a:p>
            <a:pPr lvl="1"/>
            <a:r>
              <a:rPr lang="en-AU" dirty="0"/>
              <a:t>They might be the first interaction you have with a possible future collaborator/employer</a:t>
            </a:r>
          </a:p>
          <a:p>
            <a:r>
              <a:rPr lang="en-AU" dirty="0"/>
              <a:t>It’s not easy to give a good oral presentation!</a:t>
            </a:r>
          </a:p>
          <a:p>
            <a:pPr lvl="1"/>
            <a:r>
              <a:rPr lang="en-AU" dirty="0"/>
              <a:t>Good presentations take strategy, preparation, and feedback</a:t>
            </a:r>
          </a:p>
          <a:p>
            <a:r>
              <a:rPr lang="en-AU" dirty="0"/>
              <a:t>Lighting talks/elevator pitches/three-minute theses are a common format</a:t>
            </a:r>
          </a:p>
          <a:p>
            <a:pPr lvl="1"/>
            <a:r>
              <a:rPr lang="en-AU" dirty="0"/>
              <a:t>They’re harder than you think!</a:t>
            </a:r>
          </a:p>
          <a:p>
            <a:r>
              <a:rPr lang="en-AU" dirty="0"/>
              <a:t>So let’s work on our presentation skills together!</a:t>
            </a:r>
          </a:p>
        </p:txBody>
      </p:sp>
    </p:spTree>
    <p:extLst>
      <p:ext uri="{BB962C8B-B14F-4D97-AF65-F5344CB8AC3E}">
        <p14:creationId xmlns:p14="http://schemas.microsoft.com/office/powerpoint/2010/main" val="4283403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54D08-6B5E-38D0-3CFB-A4045D0F6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Good 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871C1-85D4-FF01-E8F5-7B822731F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What is the best presentation you have been to?</a:t>
            </a:r>
          </a:p>
          <a:p>
            <a:r>
              <a:rPr lang="en-AU" dirty="0"/>
              <a:t>Why was it so good?</a:t>
            </a:r>
          </a:p>
          <a:p>
            <a:r>
              <a:rPr lang="en-AU" dirty="0"/>
              <a:t>Write a couple of notes down </a:t>
            </a:r>
            <a:r>
              <a:rPr lang="en-AU" dirty="0">
                <a:sym typeface="Wingdings" pitchFamily="2" charset="2"/>
              </a:rPr>
              <a:t>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48993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19C91-8FB8-0E80-7C9F-98062CBCC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3A280-23E2-D9D9-AB2C-A4A9087BE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Bad 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F4CA8-B7FC-FC4C-E1D2-6CA9BE3D2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What is the worst presentation you have been to?</a:t>
            </a:r>
          </a:p>
          <a:p>
            <a:r>
              <a:rPr lang="en-AU" dirty="0"/>
              <a:t>Why was it so bad?</a:t>
            </a:r>
          </a:p>
          <a:p>
            <a:r>
              <a:rPr lang="en-AU" dirty="0"/>
              <a:t>Write a couple of notes down </a:t>
            </a:r>
            <a:r>
              <a:rPr lang="en-AU" dirty="0">
                <a:sym typeface="Wingdings" pitchFamily="2" charset="2"/>
              </a:rPr>
              <a:t>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20802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1BA3B-FCFC-42FE-8A48-4099CFB50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3D265-D3BB-2644-90CE-41D88149F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Share with the group</a:t>
            </a:r>
          </a:p>
        </p:txBody>
      </p:sp>
    </p:spTree>
    <p:extLst>
      <p:ext uri="{BB962C8B-B14F-4D97-AF65-F5344CB8AC3E}">
        <p14:creationId xmlns:p14="http://schemas.microsoft.com/office/powerpoint/2010/main" val="2725287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55B71-3A25-94F9-735A-04BEBE30C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3D6CE-94F6-8C46-5E41-70BFC036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Writing your presentation: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33B92-F28F-1973-A12A-C209A1F10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Who is the audience?</a:t>
            </a:r>
          </a:p>
          <a:p>
            <a:pPr lvl="1"/>
            <a:r>
              <a:rPr lang="en-AU" dirty="0"/>
              <a:t>Try not to assume too much knowledge</a:t>
            </a:r>
          </a:p>
          <a:p>
            <a:pPr lvl="1"/>
            <a:r>
              <a:rPr lang="en-AU" dirty="0"/>
              <a:t>Try not to patronise</a:t>
            </a:r>
          </a:p>
          <a:p>
            <a:r>
              <a:rPr lang="en-AU" dirty="0"/>
              <a:t>Always err on the side of basic: the ideas in your talk might be outside of the context your audience is used to.</a:t>
            </a:r>
          </a:p>
        </p:txBody>
      </p:sp>
    </p:spTree>
    <p:extLst>
      <p:ext uri="{BB962C8B-B14F-4D97-AF65-F5344CB8AC3E}">
        <p14:creationId xmlns:p14="http://schemas.microsoft.com/office/powerpoint/2010/main" val="285063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BCB51-1675-A46B-245F-EE164B1C1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87B82-75A0-A233-BA38-23F3084AE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Writing your presentation: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DA288-9C0E-28CF-195C-C78EFC4E4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K.I.S.S: </a:t>
            </a:r>
          </a:p>
          <a:p>
            <a:r>
              <a:rPr lang="en-AU" dirty="0"/>
              <a:t>Repeat your key messages as you go with signposting:</a:t>
            </a:r>
          </a:p>
          <a:p>
            <a:pPr lvl="1"/>
            <a:r>
              <a:rPr lang="en-AU" dirty="0"/>
              <a:t>Tell them what you’re going to tell them</a:t>
            </a:r>
          </a:p>
          <a:p>
            <a:pPr lvl="1"/>
            <a:r>
              <a:rPr lang="en-AU" dirty="0"/>
              <a:t>Tell them</a:t>
            </a:r>
          </a:p>
          <a:p>
            <a:pPr lvl="1"/>
            <a:r>
              <a:rPr lang="en-AU" dirty="0"/>
              <a:t>Tell them what you told them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AC189-DC3A-27C4-B78F-856F8B6620D3}"/>
              </a:ext>
            </a:extLst>
          </p:cNvPr>
          <p:cNvSpPr txBox="1"/>
          <p:nvPr/>
        </p:nvSpPr>
        <p:spPr>
          <a:xfrm>
            <a:off x="2174240" y="1795145"/>
            <a:ext cx="65430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identify one to three key messages</a:t>
            </a:r>
          </a:p>
          <a:p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277354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77C69-826F-3151-1F01-3181EFD49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4563A-9EDD-A22B-0899-14FEC7303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Writing your presentation: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4CFBC-5DEB-0D5B-0DC7-B03F4D652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People understand stories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5673233-8CD5-DF79-A303-15AACA987295}"/>
              </a:ext>
            </a:extLst>
          </p:cNvPr>
          <p:cNvSpPr/>
          <p:nvPr/>
        </p:nvSpPr>
        <p:spPr>
          <a:xfrm>
            <a:off x="1459522" y="2213747"/>
            <a:ext cx="9376597" cy="3153235"/>
          </a:xfrm>
          <a:custGeom>
            <a:avLst/>
            <a:gdLst>
              <a:gd name="csX0" fmla="*/ 0 w 8321520"/>
              <a:gd name="csY0" fmla="*/ 2463761 h 3153235"/>
              <a:gd name="csX1" fmla="*/ 2303585 w 8321520"/>
              <a:gd name="csY1" fmla="*/ 1197668 h 3153235"/>
              <a:gd name="csX2" fmla="*/ 4062046 w 8321520"/>
              <a:gd name="csY2" fmla="*/ 1883468 h 3153235"/>
              <a:gd name="csX3" fmla="*/ 4888523 w 8321520"/>
              <a:gd name="csY3" fmla="*/ 2850622 h 3153235"/>
              <a:gd name="csX4" fmla="*/ 3552092 w 8321520"/>
              <a:gd name="csY4" fmla="*/ 3131976 h 3153235"/>
              <a:gd name="csX5" fmla="*/ 3446585 w 8321520"/>
              <a:gd name="csY5" fmla="*/ 2375838 h 3153235"/>
              <a:gd name="csX6" fmla="*/ 5820508 w 8321520"/>
              <a:gd name="csY6" fmla="*/ 1443853 h 3153235"/>
              <a:gd name="csX7" fmla="*/ 7455877 w 8321520"/>
              <a:gd name="csY7" fmla="*/ 2164822 h 3153235"/>
              <a:gd name="csX8" fmla="*/ 8247185 w 8321520"/>
              <a:gd name="csY8" fmla="*/ 195345 h 3153235"/>
              <a:gd name="csX9" fmla="*/ 5644662 w 8321520"/>
              <a:gd name="csY9" fmla="*/ 177761 h 3153235"/>
              <a:gd name="csX0" fmla="*/ 0 w 9376597"/>
              <a:gd name="csY0" fmla="*/ 2973715 h 3153235"/>
              <a:gd name="csX1" fmla="*/ 3358662 w 9376597"/>
              <a:gd name="csY1" fmla="*/ 1197668 h 3153235"/>
              <a:gd name="csX2" fmla="*/ 5117123 w 9376597"/>
              <a:gd name="csY2" fmla="*/ 1883468 h 3153235"/>
              <a:gd name="csX3" fmla="*/ 5943600 w 9376597"/>
              <a:gd name="csY3" fmla="*/ 2850622 h 3153235"/>
              <a:gd name="csX4" fmla="*/ 4607169 w 9376597"/>
              <a:gd name="csY4" fmla="*/ 3131976 h 3153235"/>
              <a:gd name="csX5" fmla="*/ 4501662 w 9376597"/>
              <a:gd name="csY5" fmla="*/ 2375838 h 3153235"/>
              <a:gd name="csX6" fmla="*/ 6875585 w 9376597"/>
              <a:gd name="csY6" fmla="*/ 1443853 h 3153235"/>
              <a:gd name="csX7" fmla="*/ 8510954 w 9376597"/>
              <a:gd name="csY7" fmla="*/ 2164822 h 3153235"/>
              <a:gd name="csX8" fmla="*/ 9302262 w 9376597"/>
              <a:gd name="csY8" fmla="*/ 195345 h 3153235"/>
              <a:gd name="csX9" fmla="*/ 6699739 w 9376597"/>
              <a:gd name="csY9" fmla="*/ 177761 h 3153235"/>
              <a:gd name="csX0" fmla="*/ 0 w 9376597"/>
              <a:gd name="csY0" fmla="*/ 2973715 h 3153235"/>
              <a:gd name="csX1" fmla="*/ 3358662 w 9376597"/>
              <a:gd name="csY1" fmla="*/ 1197668 h 3153235"/>
              <a:gd name="csX2" fmla="*/ 5117123 w 9376597"/>
              <a:gd name="csY2" fmla="*/ 1883468 h 3153235"/>
              <a:gd name="csX3" fmla="*/ 5943600 w 9376597"/>
              <a:gd name="csY3" fmla="*/ 2850622 h 3153235"/>
              <a:gd name="csX4" fmla="*/ 4607169 w 9376597"/>
              <a:gd name="csY4" fmla="*/ 3131976 h 3153235"/>
              <a:gd name="csX5" fmla="*/ 4501662 w 9376597"/>
              <a:gd name="csY5" fmla="*/ 2375838 h 3153235"/>
              <a:gd name="csX6" fmla="*/ 6875585 w 9376597"/>
              <a:gd name="csY6" fmla="*/ 1443853 h 3153235"/>
              <a:gd name="csX7" fmla="*/ 8510954 w 9376597"/>
              <a:gd name="csY7" fmla="*/ 2164822 h 3153235"/>
              <a:gd name="csX8" fmla="*/ 9302262 w 9376597"/>
              <a:gd name="csY8" fmla="*/ 195345 h 3153235"/>
              <a:gd name="csX9" fmla="*/ 6699739 w 9376597"/>
              <a:gd name="csY9" fmla="*/ 177761 h 31532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9376597" h="3153235">
                <a:moveTo>
                  <a:pt x="0" y="2973715"/>
                </a:moveTo>
                <a:cubicBezTo>
                  <a:pt x="1147396" y="2951734"/>
                  <a:pt x="2505808" y="1379376"/>
                  <a:pt x="3358662" y="1197668"/>
                </a:cubicBezTo>
                <a:cubicBezTo>
                  <a:pt x="4211516" y="1015960"/>
                  <a:pt x="4686300" y="1607976"/>
                  <a:pt x="5117123" y="1883468"/>
                </a:cubicBezTo>
                <a:cubicBezTo>
                  <a:pt x="5547946" y="2158960"/>
                  <a:pt x="6028592" y="2642537"/>
                  <a:pt x="5943600" y="2850622"/>
                </a:cubicBezTo>
                <a:cubicBezTo>
                  <a:pt x="5858608" y="3058707"/>
                  <a:pt x="4847492" y="3211107"/>
                  <a:pt x="4607169" y="3131976"/>
                </a:cubicBezTo>
                <a:cubicBezTo>
                  <a:pt x="4366846" y="3052845"/>
                  <a:pt x="4123593" y="2657192"/>
                  <a:pt x="4501662" y="2375838"/>
                </a:cubicBezTo>
                <a:cubicBezTo>
                  <a:pt x="4879731" y="2094484"/>
                  <a:pt x="6207370" y="1479022"/>
                  <a:pt x="6875585" y="1443853"/>
                </a:cubicBezTo>
                <a:cubicBezTo>
                  <a:pt x="7543800" y="1408684"/>
                  <a:pt x="8106508" y="2372907"/>
                  <a:pt x="8510954" y="2164822"/>
                </a:cubicBezTo>
                <a:cubicBezTo>
                  <a:pt x="8915400" y="1956737"/>
                  <a:pt x="9604131" y="526522"/>
                  <a:pt x="9302262" y="195345"/>
                </a:cubicBezTo>
                <a:cubicBezTo>
                  <a:pt x="9000393" y="-135832"/>
                  <a:pt x="7850066" y="20964"/>
                  <a:pt x="6699739" y="177761"/>
                </a:cubicBezTo>
              </a:path>
            </a:pathLst>
          </a:custGeom>
          <a:noFill/>
          <a:ln w="38100">
            <a:solidFill>
              <a:schemeClr val="accent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11FCCD-2405-F5FC-EC54-BBCF1DBCC40A}"/>
              </a:ext>
            </a:extLst>
          </p:cNvPr>
          <p:cNvSpPr txBox="1"/>
          <p:nvPr/>
        </p:nvSpPr>
        <p:spPr>
          <a:xfrm>
            <a:off x="838200" y="5317253"/>
            <a:ext cx="2028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schemeClr val="accent1">
                    <a:lumMod val="75000"/>
                  </a:schemeClr>
                </a:solidFill>
              </a:rPr>
              <a:t>Beginning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352E49-168D-8291-5EA8-3B4BFE78B10D}"/>
              </a:ext>
            </a:extLst>
          </p:cNvPr>
          <p:cNvSpPr txBox="1"/>
          <p:nvPr/>
        </p:nvSpPr>
        <p:spPr>
          <a:xfrm rot="20536863">
            <a:off x="7423461" y="4730593"/>
            <a:ext cx="39682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schemeClr val="accent1">
                    <a:lumMod val="75000"/>
                  </a:schemeClr>
                </a:solidFill>
              </a:rPr>
              <a:t>M       </a:t>
            </a:r>
            <a:r>
              <a:rPr lang="en-AU" sz="2800" dirty="0" err="1">
                <a:solidFill>
                  <a:schemeClr val="accent1">
                    <a:lumMod val="75000"/>
                  </a:schemeClr>
                </a:solidFill>
              </a:rPr>
              <a:t>i</a:t>
            </a:r>
            <a:r>
              <a:rPr lang="en-AU" sz="2800" dirty="0">
                <a:solidFill>
                  <a:schemeClr val="accent1">
                    <a:lumMod val="75000"/>
                  </a:schemeClr>
                </a:solidFill>
              </a:rPr>
              <a:t>     d      d      l       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BBD681-4ED4-26AD-01CF-40AA70B7EFCB}"/>
              </a:ext>
            </a:extLst>
          </p:cNvPr>
          <p:cNvSpPr txBox="1"/>
          <p:nvPr/>
        </p:nvSpPr>
        <p:spPr>
          <a:xfrm>
            <a:off x="7461383" y="2174952"/>
            <a:ext cx="1389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schemeClr val="accent1">
                    <a:lumMod val="75000"/>
                  </a:schemeClr>
                </a:solidFill>
              </a:rPr>
              <a:t>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3ADC3C-8F67-F05A-5CF6-5F0DEAF7CCB8}"/>
              </a:ext>
            </a:extLst>
          </p:cNvPr>
          <p:cNvSpPr txBox="1"/>
          <p:nvPr/>
        </p:nvSpPr>
        <p:spPr>
          <a:xfrm rot="19605130">
            <a:off x="2987688" y="3215651"/>
            <a:ext cx="4315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>
                <a:solidFill>
                  <a:schemeClr val="accent6"/>
                </a:solidFill>
              </a:rPr>
              <a:t>Problem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2083DC-4787-8D1F-6D21-947D400DC2E3}"/>
              </a:ext>
            </a:extLst>
          </p:cNvPr>
          <p:cNvSpPr txBox="1"/>
          <p:nvPr/>
        </p:nvSpPr>
        <p:spPr>
          <a:xfrm>
            <a:off x="8497613" y="1520093"/>
            <a:ext cx="4315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>
                <a:solidFill>
                  <a:schemeClr val="accent6"/>
                </a:solidFill>
              </a:rPr>
              <a:t>Resolution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FD890F2-8EC0-68D9-2115-72A7962380B1}"/>
              </a:ext>
            </a:extLst>
          </p:cNvPr>
          <p:cNvSpPr txBox="1">
            <a:spLocks/>
          </p:cNvSpPr>
          <p:nvPr/>
        </p:nvSpPr>
        <p:spPr>
          <a:xfrm>
            <a:off x="4572000" y="5840473"/>
            <a:ext cx="6934200" cy="574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AU" dirty="0"/>
              <a:t>Humour is good too!</a:t>
            </a:r>
          </a:p>
        </p:txBody>
      </p:sp>
    </p:spTree>
    <p:extLst>
      <p:ext uri="{BB962C8B-B14F-4D97-AF65-F5344CB8AC3E}">
        <p14:creationId xmlns:p14="http://schemas.microsoft.com/office/powerpoint/2010/main" val="4223858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10805-CED4-02FD-9331-005B520C1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2D5C3-6C78-51D2-6A5B-BEB20D1A2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Writing your presentation: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574C3-7DF1-5087-9B33-645FDAFF7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What’s the most important takeaway from your project/paper/thesis?</a:t>
            </a:r>
          </a:p>
          <a:p>
            <a:r>
              <a:rPr lang="en-AU" dirty="0"/>
              <a:t>If you can’t write down a single takeaway, you’re not ready to write your talk!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C8BC15-C08D-84DF-87C4-F69DC3B8E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19117"/>
            <a:ext cx="3417277" cy="22634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DB8747-3312-41EB-5AFB-870EBB324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806" y="3719115"/>
            <a:ext cx="3017993" cy="22634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1C86215-55C3-08DD-42A2-2EFE6D4D6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3759" y="3719115"/>
            <a:ext cx="3650798" cy="2263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509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8846D-2A8B-FF84-D682-3D308FE63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FC9FF-77AE-4A49-701A-32CD3B02C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Visuals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D0F4B-E594-EFBF-7810-7ACFBE4C1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Legible, clear, concise</a:t>
            </a:r>
          </a:p>
          <a:p>
            <a:r>
              <a:rPr lang="en-AU" dirty="0"/>
              <a:t>Remove </a:t>
            </a:r>
            <a:r>
              <a:rPr lang="en-AU" b="1" dirty="0"/>
              <a:t>detail</a:t>
            </a:r>
            <a:r>
              <a:rPr lang="en-AU" dirty="0"/>
              <a:t> that you won’t be discussing in your talk</a:t>
            </a:r>
          </a:p>
          <a:p>
            <a:r>
              <a:rPr lang="en-AU" dirty="0"/>
              <a:t>Are your visuals </a:t>
            </a:r>
            <a:r>
              <a:rPr lang="en-AU" b="1" dirty="0"/>
              <a:t>directly supporting </a:t>
            </a:r>
            <a:r>
              <a:rPr lang="en-AU" dirty="0"/>
              <a:t>the messages in your talk?</a:t>
            </a:r>
          </a:p>
          <a:p>
            <a:r>
              <a:rPr lang="en-AU" dirty="0"/>
              <a:t>Consider how much time your audience is viewing your visuals: is this enough time to take them in?</a:t>
            </a:r>
          </a:p>
          <a:p>
            <a:r>
              <a:rPr lang="en-AU" dirty="0"/>
              <a:t>Consider using a </a:t>
            </a:r>
            <a:r>
              <a:rPr lang="en-AU" b="1" dirty="0"/>
              <a:t>graphical abstract</a:t>
            </a:r>
          </a:p>
          <a:p>
            <a:r>
              <a:rPr lang="en-AU" b="1" dirty="0"/>
              <a:t>K.I.S.S. !!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32861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CFB83-D6E1-D163-C1F5-3F435CF92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9D600-4307-F7C5-7FA7-C79954EFE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Time to practice!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818D6A-109F-1849-FDAD-A4DF28B788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18388"/>
            <a:ext cx="10515600" cy="3253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2696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14350" marR="0" lvl="0" indent="-514350" eaLnBrk="1" fontAlgn="base" hangingPunct="1">
              <a:spcBef>
                <a:spcPts val="100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lang="en-US" altLang="en-US" dirty="0">
                <a:latin typeface="+mn-lt"/>
              </a:rPr>
              <a:t>Practice, practice, practice</a:t>
            </a:r>
          </a:p>
          <a:p>
            <a:pPr lvl="1" eaLnBrk="1" hangingPunct="1">
              <a:spcBef>
                <a:spcPts val="1000"/>
              </a:spcBef>
            </a:pPr>
            <a:r>
              <a:rPr lang="en-US" altLang="en-US" dirty="0">
                <a:latin typeface="+mn-lt"/>
              </a:rPr>
              <a:t>Practice.</a:t>
            </a:r>
          </a:p>
          <a:p>
            <a:pPr marL="514350" marR="0" lvl="0" indent="-514350" eaLnBrk="1" fontAlgn="base" hangingPunct="1">
              <a:spcBef>
                <a:spcPts val="100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lang="en-US" altLang="en-US" dirty="0">
                <a:latin typeface="+mn-lt"/>
              </a:rPr>
              <a:t>Vocal range</a:t>
            </a:r>
          </a:p>
          <a:p>
            <a:pPr lvl="1" eaLnBrk="1" hangingPunct="1">
              <a:spcBef>
                <a:spcPts val="1000"/>
              </a:spcBef>
            </a:pPr>
            <a:r>
              <a:rPr lang="en-US" altLang="en-US" dirty="0">
                <a:latin typeface="+mn-lt"/>
              </a:rPr>
              <a:t>Speak clearly and use variety in your voice (fast/slow, loud/soft)</a:t>
            </a:r>
          </a:p>
          <a:p>
            <a:pPr lvl="1" eaLnBrk="1" hangingPunct="1">
              <a:spcBef>
                <a:spcPts val="1000"/>
              </a:spcBef>
            </a:pPr>
            <a:r>
              <a:rPr lang="en-US" altLang="en-US" dirty="0">
                <a:latin typeface="+mn-lt"/>
              </a:rPr>
              <a:t>Speak at a conversational pace</a:t>
            </a:r>
          </a:p>
          <a:p>
            <a:pPr lvl="1" eaLnBrk="1" hangingPunct="1">
              <a:spcBef>
                <a:spcPts val="1000"/>
              </a:spcBef>
            </a:pPr>
            <a:r>
              <a:rPr lang="en-US" altLang="en-US" dirty="0">
                <a:latin typeface="+mn-lt"/>
              </a:rPr>
              <a:t>Remember to pause: give the audience time to think about what you are saying.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86CA30-8467-D699-8583-7FE5340A31FC}"/>
              </a:ext>
            </a:extLst>
          </p:cNvPr>
          <p:cNvSpPr txBox="1"/>
          <p:nvPr/>
        </p:nvSpPr>
        <p:spPr>
          <a:xfrm>
            <a:off x="9102969" y="800260"/>
            <a:ext cx="124850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800" dirty="0"/>
              <a:t>🎷</a:t>
            </a:r>
          </a:p>
        </p:txBody>
      </p:sp>
    </p:spTree>
    <p:extLst>
      <p:ext uri="{BB962C8B-B14F-4D97-AF65-F5344CB8AC3E}">
        <p14:creationId xmlns:p14="http://schemas.microsoft.com/office/powerpoint/2010/main" val="213299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1AB79-8686-E388-B09C-14D8147F4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E7FEC-9AAA-8098-7F64-CC34E3567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Time to practice!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57BD42-CAAB-9DBD-F1F2-B7F89ED9D8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77866"/>
            <a:ext cx="10515600" cy="456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2696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14350" marR="0" lvl="0" indent="-514350" eaLnBrk="1" fontAlgn="base" hangingPunct="1">
              <a:spcBef>
                <a:spcPts val="100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  <a:tabLst/>
            </a:pPr>
            <a:r>
              <a:rPr lang="en-US" altLang="en-US" dirty="0">
                <a:latin typeface="+mn-lt"/>
              </a:rPr>
              <a:t>Body language</a:t>
            </a:r>
          </a:p>
          <a:p>
            <a:pPr lvl="1" eaLnBrk="1" hangingPunct="1">
              <a:spcBef>
                <a:spcPts val="1000"/>
              </a:spcBef>
            </a:pPr>
            <a:r>
              <a:rPr lang="en-US" altLang="en-US" dirty="0">
                <a:latin typeface="+mn-lt"/>
              </a:rPr>
              <a:t>Stand straight and confidently.</a:t>
            </a:r>
          </a:p>
          <a:p>
            <a:pPr lvl="1" eaLnBrk="1" hangingPunct="1">
              <a:spcBef>
                <a:spcPts val="1000"/>
              </a:spcBef>
            </a:pPr>
            <a:r>
              <a:rPr lang="en-US" altLang="en-US" dirty="0">
                <a:latin typeface="+mn-lt"/>
              </a:rPr>
              <a:t>Hold your head up and make eye contact.</a:t>
            </a:r>
          </a:p>
          <a:p>
            <a:pPr lvl="1" eaLnBrk="1" hangingPunct="1">
              <a:spcBef>
                <a:spcPts val="1000"/>
              </a:spcBef>
            </a:pPr>
            <a:r>
              <a:rPr lang="en-US" altLang="en-US" dirty="0">
                <a:latin typeface="+mn-lt"/>
              </a:rPr>
              <a:t>Don’t turn your back to the audience.</a:t>
            </a:r>
          </a:p>
          <a:p>
            <a:pPr lvl="1" eaLnBrk="1" hangingPunct="1">
              <a:spcBef>
                <a:spcPts val="1000"/>
              </a:spcBef>
            </a:pPr>
            <a:r>
              <a:rPr lang="en-US" altLang="en-US" dirty="0">
                <a:latin typeface="+mn-lt"/>
              </a:rPr>
              <a:t>(Try and pretend you’re having a good time!)</a:t>
            </a:r>
          </a:p>
          <a:p>
            <a:pPr lvl="1" eaLnBrk="1" hangingPunct="1">
              <a:spcBef>
                <a:spcPts val="1000"/>
              </a:spcBef>
            </a:pPr>
            <a:r>
              <a:rPr lang="en-US" altLang="en-US" dirty="0">
                <a:latin typeface="+mn-lt"/>
              </a:rPr>
              <a:t>Practice how you will use your body and hands to </a:t>
            </a:r>
            <a:r>
              <a:rPr lang="en-US" altLang="en-US" dirty="0" err="1">
                <a:latin typeface="+mn-lt"/>
              </a:rPr>
              <a:t>emphasise</a:t>
            </a:r>
            <a:r>
              <a:rPr lang="en-US" altLang="en-US" dirty="0">
                <a:latin typeface="+mn-lt"/>
              </a:rPr>
              <a:t> your presentation but note that a 3MT presentation should be delivered from a single spot on stage.</a:t>
            </a:r>
          </a:p>
          <a:p>
            <a:pPr marL="514350" marR="0" lvl="0" indent="-514350" eaLnBrk="1" fontAlgn="base" hangingPunct="1">
              <a:spcBef>
                <a:spcPts val="1000"/>
              </a:spcBef>
              <a:spcAft>
                <a:spcPct val="0"/>
              </a:spcAft>
              <a:buClrTx/>
              <a:buSzTx/>
              <a:buAutoNum type="arabicPeriod" startAt="3"/>
              <a:tabLst/>
            </a:pPr>
            <a:r>
              <a:rPr lang="en-US" altLang="en-US" dirty="0">
                <a:latin typeface="+mn-lt"/>
              </a:rPr>
              <a:t>Timing</a:t>
            </a:r>
          </a:p>
          <a:p>
            <a:pPr lvl="1" eaLnBrk="1" hangingPunct="1">
              <a:spcBef>
                <a:spcPts val="1000"/>
              </a:spcBef>
            </a:pPr>
            <a:r>
              <a:rPr lang="en-US" altLang="en-US" dirty="0">
                <a:latin typeface="+mn-lt"/>
              </a:rPr>
              <a:t>As you practice, time yourself. What feels like three minutes to you?</a:t>
            </a:r>
          </a:p>
        </p:txBody>
      </p:sp>
    </p:spTree>
    <p:extLst>
      <p:ext uri="{BB962C8B-B14F-4D97-AF65-F5344CB8AC3E}">
        <p14:creationId xmlns:p14="http://schemas.microsoft.com/office/powerpoint/2010/main" val="3374735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3CA92-B77D-7990-754B-EF5AF20A0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Oxford’s official 3MT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E722622-3AD9-E99E-F13B-62C34C2009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25951"/>
            <a:ext cx="10515600" cy="2544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altLang="en-US" dirty="0"/>
              <a:t>Open to DPhil students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altLang="en-US" dirty="0"/>
              <a:t>Training: </a:t>
            </a:r>
            <a:r>
              <a:rPr lang="en-US" alt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Thursday 30th April, 10am - 12pm</a:t>
            </a:r>
            <a:endParaRPr lang="en-US" altLang="en-US" dirty="0"/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altLang="en-US" dirty="0"/>
              <a:t>Applications open: Wednesday 1st April 2026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altLang="en-US" dirty="0"/>
              <a:t>Deadline to apply to the competition: 5pm 22nd May 2026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altLang="en-US" dirty="0"/>
              <a:t>Oxford Final: Wednesday 17th June 2026</a:t>
            </a:r>
          </a:p>
        </p:txBody>
      </p:sp>
    </p:spTree>
    <p:extLst>
      <p:ext uri="{BB962C8B-B14F-4D97-AF65-F5344CB8AC3E}">
        <p14:creationId xmlns:p14="http://schemas.microsoft.com/office/powerpoint/2010/main" val="1384678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BEC29-3F27-0102-4301-2A86620DC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34D9B-C862-4260-7BFD-BBCB046F2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hlinkClick r:id="rId2"/>
              </a:rPr>
              <a:t>https://www.mpls.ox.ac.uk/public-engagement/three-minute-thesis</a:t>
            </a:r>
            <a:endParaRPr lang="en-AU" dirty="0"/>
          </a:p>
          <a:p>
            <a:r>
              <a:rPr lang="en-AU" dirty="0">
                <a:hlinkClick r:id="rId3"/>
              </a:rPr>
              <a:t>https://institute-academic-development.ed.ac.uk/postgraduate/doctoral/3mt/entrants/tips</a:t>
            </a:r>
            <a:endParaRPr lang="en-AU" dirty="0"/>
          </a:p>
          <a:p>
            <a:r>
              <a:rPr lang="en-AU" dirty="0">
                <a:hlinkClick r:id="rId4"/>
              </a:rPr>
              <a:t>https://www.sussex.ac.uk/internal/sussex-researcher-school/researcherdev/researchercommunity/threeminthesis/preparing3mt</a:t>
            </a:r>
            <a:endParaRPr lang="en-AU" dirty="0"/>
          </a:p>
          <a:p>
            <a:r>
              <a:rPr lang="en-AU" dirty="0">
                <a:hlinkClick r:id="rId5"/>
              </a:rPr>
              <a:t>https://www.cs.ox.ac.uk/files/2263/PresentationSkillsSeminar.pdf</a:t>
            </a:r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39696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608</Words>
  <Application>Microsoft Macintosh PowerPoint</Application>
  <PresentationFormat>Widescreen</PresentationFormat>
  <Paragraphs>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How to give a 3 minute talk</vt:lpstr>
      <vt:lpstr>Motivation</vt:lpstr>
      <vt:lpstr>Good presentations</vt:lpstr>
      <vt:lpstr>Bad presentations</vt:lpstr>
      <vt:lpstr>Share with the group</vt:lpstr>
      <vt:lpstr>Writing your presentation: audience</vt:lpstr>
      <vt:lpstr>Writing your presentation: structure</vt:lpstr>
      <vt:lpstr>Writing your presentation: structure</vt:lpstr>
      <vt:lpstr>Writing your presentation: message</vt:lpstr>
      <vt:lpstr>Visuals</vt:lpstr>
      <vt:lpstr>Time to practice!</vt:lpstr>
      <vt:lpstr>Time to practice!</vt:lpstr>
      <vt:lpstr>Oxford’s official 3MT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Lucy Harrison</dc:creator>
  <cp:lastModifiedBy>Lucy Harrison</cp:lastModifiedBy>
  <cp:revision>4</cp:revision>
  <dcterms:created xsi:type="dcterms:W3CDTF">2026-04-07T12:32:28Z</dcterms:created>
  <dcterms:modified xsi:type="dcterms:W3CDTF">2026-05-28T08:23:59Z</dcterms:modified>
</cp:coreProperties>
</file>